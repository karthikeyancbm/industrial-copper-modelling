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16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93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15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21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7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99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99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073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96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190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725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786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063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89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1638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933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17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F8E1DD-C163-4A4D-9453-43F9CF22632E}" type="datetimeFigureOut">
              <a:rPr lang="en-IN" smtClean="0"/>
              <a:t>20-12-2024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AB64C13-CDEA-485D-A2D6-6273F6501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5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  <p:sldLayoutId id="2147484012" r:id="rId14"/>
    <p:sldLayoutId id="2147484013" r:id="rId15"/>
    <p:sldLayoutId id="2147484014" r:id="rId16"/>
    <p:sldLayoutId id="21474840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67962" y="1784683"/>
            <a:ext cx="9056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spc="3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Industrial Copper Modelling </a:t>
            </a:r>
            <a:endParaRPr lang="en-IN" sz="48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23897" y="2210996"/>
            <a:ext cx="4774223" cy="286232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GB" sz="4000" dirty="0" smtClean="0">
                <a:latin typeface="Impact" panose="020B0806030902050204" pitchFamily="34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GB" sz="4000" dirty="0">
                <a:latin typeface="Impact" panose="020B0806030902050204" pitchFamily="34" charset="0"/>
              </a:rPr>
              <a:t>	</a:t>
            </a:r>
            <a:r>
              <a:rPr lang="en-GB" sz="4000" dirty="0" smtClean="0">
                <a:latin typeface="Impact" panose="020B0806030902050204" pitchFamily="34" charset="0"/>
              </a:rPr>
              <a:t>present by </a:t>
            </a:r>
            <a:r>
              <a:rPr lang="en-GB" sz="4000" dirty="0">
                <a:latin typeface="Impact" panose="020B0806030902050204" pitchFamily="34" charset="0"/>
              </a:rPr>
              <a:t> </a:t>
            </a:r>
            <a:r>
              <a:rPr lang="en-GB" sz="4000" dirty="0" smtClean="0">
                <a:latin typeface="Impact" panose="020B0806030902050204" pitchFamily="34" charset="0"/>
              </a:rPr>
              <a:t>          	Karthikeyan.M</a:t>
            </a:r>
            <a:endParaRPr lang="en-IN" sz="40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37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9046" y="1083200"/>
            <a:ext cx="4487880" cy="6971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Skills and Domain: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34599" y="2071540"/>
            <a:ext cx="4648792" cy="2212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Scripting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Pre-processing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Streamlit</a:t>
            </a:r>
          </a:p>
          <a:p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56530" y="4350844"/>
            <a:ext cx="5254128" cy="636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: Manufacturing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972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5568" y="747346"/>
            <a:ext cx="3625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Statement: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7008" y="1605827"/>
            <a:ext cx="9379491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Two challenges copper industry facing: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1.It deals with complex data related to sales and pricing that result in not able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   to fix optimal price.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2.The second challenge is capturing the leads and its conversion assertion.</a:t>
            </a:r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77008" y="3897197"/>
            <a:ext cx="674665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Objective: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1.To Predict the Optimal Price using Regression model</a:t>
            </a:r>
          </a:p>
          <a:p>
            <a:pPr>
              <a:lnSpc>
                <a:spcPct val="150000"/>
              </a:lnSpc>
            </a:pPr>
            <a:r>
              <a:rPr lang="en-GB" sz="2400" dirty="0" smtClean="0"/>
              <a:t>2.To Predict the Lead Status conversion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8678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04088"/>
            <a:ext cx="2440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Approach:</a:t>
            </a:r>
            <a:endParaRPr lang="en-IN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490472"/>
            <a:ext cx="745729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1.Data understanding: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/>
              <a:t>Identify </a:t>
            </a:r>
            <a:r>
              <a:rPr lang="en-GB" dirty="0"/>
              <a:t>the types of variables (continuous, categorical) and their distributions.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/>
              <a:t>If </a:t>
            </a:r>
            <a:r>
              <a:rPr lang="en-GB" dirty="0"/>
              <a:t>any rubbish values found such as '0000',it should be converted into null.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2889504"/>
            <a:ext cx="3149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2.Data Pre-processing:</a:t>
            </a:r>
            <a:endParaRPr lang="en-IN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3460301"/>
            <a:ext cx="110332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Handle missing values with mean/median/mode.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Treat Outliers using IQR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Skewness in the dataset and treat skewness with appropriate data transformations, such as log </a:t>
            </a:r>
            <a:r>
              <a:rPr lang="en-GB" dirty="0" smtClean="0"/>
              <a:t>transformation</a:t>
            </a:r>
            <a:r>
              <a:rPr lang="en-GB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Encode categorical variables using suitable techniques, such as one-hot encoding, label encoding, or ordinal encoding</a:t>
            </a:r>
            <a:r>
              <a:rPr lang="en-GB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     based </a:t>
            </a:r>
            <a:r>
              <a:rPr lang="en-GB" dirty="0"/>
              <a:t>on their nature and relationship with the target variable.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11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3046" y="685801"/>
            <a:ext cx="3996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3. </a:t>
            </a:r>
            <a:r>
              <a:rPr lang="en-IN" sz="2400" b="1" dirty="0" smtClean="0"/>
              <a:t>Exploratory </a:t>
            </a:r>
            <a:r>
              <a:rPr lang="en-IN" sz="2400" b="1" dirty="0"/>
              <a:t>Data Analysis: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23191" y="1147466"/>
            <a:ext cx="8881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Try visualizing outliers and skewness(before and after treating skewness) using Seaborn’s boxplot.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33046" y="1609131"/>
            <a:ext cx="3263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4. Feature Engineering:</a:t>
            </a:r>
            <a:endParaRPr lang="en-IN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23191" y="2106945"/>
            <a:ext cx="10665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Engineer new features if applicable, such as aggregating or transforming existing features to create more informative </a:t>
            </a:r>
            <a:endParaRPr lang="en-GB" dirty="0" smtClean="0"/>
          </a:p>
          <a:p>
            <a:r>
              <a:rPr lang="en-GB" dirty="0" smtClean="0"/>
              <a:t>representations </a:t>
            </a:r>
            <a:r>
              <a:rPr lang="en-GB" dirty="0"/>
              <a:t>of the data. In this project a lead time has been developed as new feature.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03383" y="2923683"/>
            <a:ext cx="4668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5. Model Building and Evaluation:</a:t>
            </a:r>
            <a:endParaRPr lang="en-IN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23191" y="3343423"/>
            <a:ext cx="106655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Split the dataset into training and testing/validation 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Train and evaluate with different classification models and measure it using appropriate evaluation metrics such as </a:t>
            </a:r>
            <a:endParaRPr lang="en-GB" dirty="0" smtClean="0"/>
          </a:p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GB" dirty="0" smtClean="0"/>
              <a:t>    accuracy</a:t>
            </a:r>
            <a:r>
              <a:rPr lang="en-GB" dirty="0"/>
              <a:t>, precision, recall, F1 score, and AUC curve.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Optimize model </a:t>
            </a:r>
            <a:r>
              <a:rPr lang="en-GB" dirty="0" smtClean="0"/>
              <a:t>hyper parameters </a:t>
            </a:r>
            <a:r>
              <a:rPr lang="en-GB" dirty="0"/>
              <a:t>using techniques such as cross-validation and grid search to find the </a:t>
            </a:r>
            <a:r>
              <a:rPr lang="en-GB" dirty="0" smtClean="0"/>
              <a:t>best-performing </a:t>
            </a:r>
            <a:r>
              <a:rPr lang="en-GB" dirty="0"/>
              <a:t>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Interpret the model results and assess its performance based on the defined problem statement.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13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0293" y="659423"/>
            <a:ext cx="5140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6. Model Deployment using Streamlit:</a:t>
            </a:r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82044" y="1267499"/>
            <a:ext cx="10639396" cy="2130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Develop interactive GUI using </a:t>
            </a:r>
            <a:r>
              <a:rPr lang="en-GB" dirty="0" smtClean="0"/>
              <a:t>Streamlit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Task input( Regression or Classification)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</a:t>
            </a:r>
            <a:r>
              <a:rPr lang="en-GB" dirty="0" smtClean="0"/>
              <a:t>reate </a:t>
            </a:r>
            <a:r>
              <a:rPr lang="en-GB" dirty="0"/>
              <a:t>an input field where the user can enter each column value except </a:t>
            </a:r>
            <a:r>
              <a:rPr lang="en-GB" dirty="0" smtClean="0"/>
              <a:t>‘Selling Price’ </a:t>
            </a:r>
            <a:r>
              <a:rPr lang="en-GB" dirty="0"/>
              <a:t>for regression model and except ‘Status’ for classification model.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41839" y="3174022"/>
            <a:ext cx="807586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Models have been developed for this project:</a:t>
            </a:r>
          </a:p>
          <a:p>
            <a:pPr>
              <a:lnSpc>
                <a:spcPct val="200000"/>
              </a:lnSpc>
            </a:pPr>
            <a:r>
              <a:rPr lang="en-GB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Price Prediction </a:t>
            </a:r>
            <a:r>
              <a:rPr lang="en-GB" dirty="0" smtClean="0"/>
              <a:t>– The </a:t>
            </a:r>
            <a:r>
              <a:rPr lang="en-GB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Regression model</a:t>
            </a:r>
            <a:r>
              <a:rPr lang="en-GB" sz="2400" b="1" dirty="0" smtClean="0">
                <a:solidFill>
                  <a:srgbClr val="FF0000"/>
                </a:solidFill>
              </a:rPr>
              <a:t> </a:t>
            </a:r>
            <a:r>
              <a:rPr lang="en-GB" dirty="0" smtClean="0"/>
              <a:t>has been used</a:t>
            </a:r>
          </a:p>
          <a:p>
            <a:pPr>
              <a:lnSpc>
                <a:spcPct val="200000"/>
              </a:lnSpc>
            </a:pPr>
            <a:r>
              <a:rPr lang="en-GB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Status Prediction </a:t>
            </a:r>
            <a:r>
              <a:rPr lang="en-GB" dirty="0" smtClean="0"/>
              <a:t>– The </a:t>
            </a:r>
            <a:r>
              <a:rPr lang="en-GB" sz="24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KNN model </a:t>
            </a:r>
            <a:r>
              <a:rPr lang="en-GB" dirty="0" smtClean="0"/>
              <a:t>has been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21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462" y="2356338"/>
            <a:ext cx="33505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KNN</a:t>
            </a:r>
            <a:r>
              <a:rPr lang="en-GB" sz="3200" u="sng" dirty="0">
                <a:latin typeface="Book Antiqua" panose="02040602050305030304" pitchFamily="18" charset="0"/>
              </a:rPr>
              <a:t> </a:t>
            </a:r>
            <a:r>
              <a:rPr lang="en-GB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Algorithm:</a:t>
            </a:r>
          </a:p>
          <a:p>
            <a:endParaRPr lang="en-IN" sz="3200" u="sng" dirty="0">
              <a:latin typeface="Book Antiqua" panose="02040602050305030304" pitchFamily="18" charset="0"/>
            </a:endParaRPr>
          </a:p>
          <a:p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15462" y="3033346"/>
            <a:ext cx="109288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The idea of the KNN is mimicking the neighbours. </a:t>
            </a:r>
            <a:r>
              <a:rPr lang="en-GB" dirty="0">
                <a:latin typeface="Book Antiqua" panose="02040602050305030304" pitchFamily="18" charset="0"/>
              </a:rPr>
              <a:t>The ML model first decide the  neighbours by calculating the </a:t>
            </a:r>
            <a:r>
              <a:rPr lang="en-GB" dirty="0" smtClean="0">
                <a:latin typeface="Book Antiqua" panose="02040602050305030304" pitchFamily="18" charset="0"/>
              </a:rPr>
              <a:t>distance</a:t>
            </a:r>
            <a:r>
              <a:rPr lang="en-GB" dirty="0">
                <a:latin typeface="Book Antiqua" panose="02040602050305030304" pitchFamily="18" charset="0"/>
              </a:rPr>
              <a:t>. That distance is called as </a:t>
            </a: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'Euclidean distance".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Once the neighbours are ascertained, the new data points will </a:t>
            </a:r>
            <a:r>
              <a:rPr lang="en-GB" dirty="0">
                <a:solidFill>
                  <a:srgbClr val="0070C0"/>
                </a:solidFill>
                <a:latin typeface="Book Antiqua" panose="02040602050305030304" pitchFamily="18" charset="0"/>
              </a:rPr>
              <a:t>mimic the attributes of neighbours which is majority</a:t>
            </a:r>
            <a:r>
              <a:rPr lang="en-GB" dirty="0">
                <a:latin typeface="Book Antiqua" panose="0204060205030503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66"/>
                </a:solidFill>
                <a:latin typeface="Book Antiqua" panose="02040602050305030304" pitchFamily="18" charset="0"/>
              </a:rPr>
              <a:t>In regression problem, the model takes the average value of the neighbours</a:t>
            </a:r>
            <a:r>
              <a:rPr lang="en-GB" dirty="0">
                <a:solidFill>
                  <a:srgbClr val="00B050"/>
                </a:solidFill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  <a:latin typeface="Book Antiqua" panose="02040602050305030304" pitchFamily="18" charset="0"/>
              </a:rPr>
              <a:t>In binary classification, to avoid the tie situation, the choice of no of neighbours are always odd.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The formula for calculating the distance is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Book Antiqua" panose="02040602050305030304" pitchFamily="18" charset="0"/>
              </a:rPr>
              <a:t>root of (x2-x1)^2 + (y2 - y1)^2.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This algorithm is also called as </a:t>
            </a: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"Lazy learning algorithm" </a:t>
            </a:r>
            <a:r>
              <a:rPr lang="en-GB" dirty="0">
                <a:latin typeface="Book Antiqua" panose="02040602050305030304" pitchFamily="18" charset="0"/>
              </a:rPr>
              <a:t>- i.e. training is not actually happening, based on the </a:t>
            </a:r>
            <a:r>
              <a:rPr lang="en-GB" dirty="0" smtClean="0">
                <a:latin typeface="Book Antiqua" panose="02040602050305030304" pitchFamily="18" charset="0"/>
              </a:rPr>
              <a:t>previously </a:t>
            </a:r>
            <a:r>
              <a:rPr lang="en-GB" dirty="0">
                <a:latin typeface="Book Antiqua" panose="02040602050305030304" pitchFamily="18" charset="0"/>
              </a:rPr>
              <a:t>available data, the prediction is done.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It's really time consuming, since it has to compute the distance for every new prediction. If data size is large, it will </a:t>
            </a:r>
            <a:r>
              <a:rPr lang="en-GB" dirty="0" smtClean="0">
                <a:latin typeface="Book Antiqua" panose="02040602050305030304" pitchFamily="18" charset="0"/>
              </a:rPr>
              <a:t>take </a:t>
            </a:r>
            <a:r>
              <a:rPr lang="en-GB" dirty="0">
                <a:latin typeface="Book Antiqua" panose="02040602050305030304" pitchFamily="18" charset="0"/>
              </a:rPr>
              <a:t>more time.</a:t>
            </a:r>
            <a:endParaRPr lang="en-IN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2" y="582857"/>
            <a:ext cx="5680568" cy="17734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792" y="582857"/>
            <a:ext cx="4677508" cy="234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6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7877" y="633046"/>
            <a:ext cx="57326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Linear Regression Algorithm: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89318" y="1368810"/>
            <a:ext cx="678564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Linear Regression is a statistical supervised learning technique to predict the quantitative variable by </a:t>
            </a:r>
            <a:r>
              <a:rPr lang="en-GB" dirty="0" smtClean="0">
                <a:latin typeface="Book Antiqua" panose="02040602050305030304" pitchFamily="18" charset="0"/>
              </a:rPr>
              <a:t>forming </a:t>
            </a:r>
            <a:r>
              <a:rPr lang="en-GB" dirty="0">
                <a:latin typeface="Book Antiqua" panose="02040602050305030304" pitchFamily="18" charset="0"/>
              </a:rPr>
              <a:t>a linear relationship with one or more independent features</a:t>
            </a:r>
            <a:r>
              <a:rPr lang="en-GB" dirty="0" smtClean="0">
                <a:latin typeface="Book Antiqua" panose="0204060205030503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latin typeface="Book Antiqua" panose="02040602050305030304" pitchFamily="18" charset="0"/>
              </a:rPr>
              <a:t>The </a:t>
            </a:r>
            <a:r>
              <a:rPr lang="en-GB" dirty="0">
                <a:latin typeface="Book Antiqua" panose="02040602050305030304" pitchFamily="18" charset="0"/>
              </a:rPr>
              <a:t>objective of the Linear </a:t>
            </a:r>
            <a:r>
              <a:rPr lang="en-GB" dirty="0" smtClean="0">
                <a:latin typeface="Book Antiqua" panose="02040602050305030304" pitchFamily="18" charset="0"/>
              </a:rPr>
              <a:t>Regression is  </a:t>
            </a:r>
            <a:r>
              <a:rPr lang="en-GB" dirty="0">
                <a:latin typeface="Book Antiqua" panose="02040602050305030304" pitchFamily="18" charset="0"/>
              </a:rPr>
              <a:t>to get the minimised error or Cost/Loss function which is </a:t>
            </a:r>
            <a:r>
              <a:rPr lang="en-GB" dirty="0" smtClean="0">
                <a:latin typeface="Book Antiqua" panose="02040602050305030304" pitchFamily="18" charset="0"/>
              </a:rPr>
              <a:t>  achieved </a:t>
            </a:r>
            <a:r>
              <a:rPr lang="en-GB" dirty="0">
                <a:latin typeface="Book Antiqua" panose="02040602050305030304" pitchFamily="18" charset="0"/>
              </a:rPr>
              <a:t>by fitting the straight line as close as </a:t>
            </a:r>
            <a:r>
              <a:rPr lang="en-GB" dirty="0" smtClean="0">
                <a:latin typeface="Book Antiqua" panose="02040602050305030304" pitchFamily="18" charset="0"/>
              </a:rPr>
              <a:t>possible to </a:t>
            </a:r>
            <a:r>
              <a:rPr lang="en-GB" dirty="0">
                <a:latin typeface="Book Antiqua" panose="02040602050305030304" pitchFamily="18" charset="0"/>
              </a:rPr>
              <a:t>data points. </a:t>
            </a:r>
            <a:endParaRPr lang="en-GB" dirty="0" smtClean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smtClean="0">
                <a:latin typeface="Book Antiqua" panose="02040602050305030304" pitchFamily="18" charset="0"/>
              </a:rPr>
              <a:t>The </a:t>
            </a:r>
            <a:r>
              <a:rPr lang="en-GB" dirty="0">
                <a:latin typeface="Book Antiqua" panose="02040602050305030304" pitchFamily="18" charset="0"/>
              </a:rPr>
              <a:t>Intercept and values of slope are playing pivotal role determining the position or fitting of the line along the data points.</a:t>
            </a:r>
            <a:endParaRPr lang="en-GB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966" y="760303"/>
            <a:ext cx="4057882" cy="405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8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4255" y="800100"/>
            <a:ext cx="1089366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Key Elements: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Simple Linear Regression: helps to find the linear relationship between </a:t>
            </a:r>
            <a:r>
              <a:rPr lang="en-IN" dirty="0">
                <a:latin typeface="Book Antiqua" panose="02040602050305030304" pitchFamily="18" charset="0"/>
              </a:rPr>
              <a:t>two continuous variables,</a:t>
            </a:r>
            <a:r>
              <a:rPr lang="en-GB" dirty="0">
                <a:latin typeface="Book Antiqua" panose="02040602050305030304" pitchFamily="18" charset="0"/>
              </a:rPr>
              <a:t>one independent and one dependent feature. Formula : y = mx+c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Book Antiqua" panose="02040602050305030304" pitchFamily="18" charset="0"/>
              </a:rPr>
              <a:t>Multiple Linear Regression: Involves multiple independent variables to predict the target variable.</a:t>
            </a:r>
            <a:endParaRPr lang="en-IN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624255" y="2461019"/>
            <a:ext cx="72696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Formula: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y=β0​+β1​x1​+β2​x2​+...+βn​xn</a:t>
            </a:r>
            <a:r>
              <a:rPr lang="es-ES" sz="2000" dirty="0" smtClean="0"/>
              <a:t>​</a:t>
            </a:r>
            <a:endParaRPr lang="en-GB" sz="2000" dirty="0" smtClean="0"/>
          </a:p>
          <a:p>
            <a:pPr>
              <a:lnSpc>
                <a:spcPct val="150000"/>
              </a:lnSpc>
            </a:pPr>
            <a:r>
              <a:rPr lang="en-GB" sz="2000" dirty="0"/>
              <a:t>y = the value to be predicted, β0 – Intercept , β1, β2, βn – Coefficients.</a:t>
            </a:r>
            <a:endParaRPr lang="en-IN" sz="2000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45124" y="3892180"/>
            <a:ext cx="10743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Intercept : </a:t>
            </a:r>
            <a:r>
              <a:rPr lang="en-GB" dirty="0" smtClean="0">
                <a:latin typeface="Book Antiqua" panose="02040602050305030304" pitchFamily="18" charset="0"/>
              </a:rPr>
              <a:t>when </a:t>
            </a:r>
            <a:r>
              <a:rPr lang="en-GB" dirty="0">
                <a:latin typeface="Book Antiqua" panose="02040602050305030304" pitchFamily="18" charset="0"/>
              </a:rPr>
              <a:t>the value of x is 0,atwhich value in y axis the straight line cutting is called as </a:t>
            </a:r>
            <a:r>
              <a:rPr lang="en-GB" dirty="0">
                <a:solidFill>
                  <a:srgbClr val="FF0066"/>
                </a:solidFill>
                <a:latin typeface="Book Antiqua" panose="02040602050305030304" pitchFamily="18" charset="0"/>
              </a:rPr>
              <a:t>Intercept.</a:t>
            </a:r>
          </a:p>
          <a:p>
            <a:r>
              <a:rPr lang="en-GB" dirty="0">
                <a:latin typeface="Book Antiqua" panose="02040602050305030304" pitchFamily="18" charset="0"/>
              </a:rPr>
              <a:t>In other terms, when all the x values are set to zero, the value of y is called as Intercept.</a:t>
            </a:r>
            <a:endParaRPr lang="en-IN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45124" y="4815510"/>
            <a:ext cx="1097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Slope : </a:t>
            </a:r>
            <a:r>
              <a:rPr lang="en-GB" dirty="0">
                <a:latin typeface="Book Antiqua" panose="02040602050305030304" pitchFamily="18" charset="0"/>
              </a:rPr>
              <a:t>If the value of x axis is increased by 1 unit ,how much increment can be expected in the y -axis is what slope does. m = [y2-y1/x2-x1]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84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603" y="522263"/>
            <a:ext cx="110019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In Linear regression, the position of straight line @ regression line  decides the accuracy of the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>
                    <a:lumMod val="50000"/>
                  </a:schemeClr>
                </a:solidFill>
                <a:latin typeface="Book Antiqua" panose="02040602050305030304" pitchFamily="18" charset="0"/>
              </a:rPr>
              <a:t>To fit the line close to the data points, the values of beta0 and beta1 plays pivotal role. If line is on the data points, the prediction will be accurate.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7030A0"/>
                </a:solidFill>
                <a:latin typeface="Book Antiqua" panose="02040602050305030304" pitchFamily="18" charset="0"/>
              </a:rPr>
              <a:t>Intercept is responsible for distance from the origin</a:t>
            </a:r>
            <a:r>
              <a:rPr lang="en-GB" dirty="0">
                <a:latin typeface="Book Antiqua" panose="02040602050305030304" pitchFamily="18" charset="0"/>
              </a:rPr>
              <a:t>. if the intercept is away from zero it is farther from the origin.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66"/>
                </a:solidFill>
                <a:latin typeface="Book Antiqua" panose="02040602050305030304" pitchFamily="18" charset="0"/>
              </a:rPr>
              <a:t>slopes are responsible for the rotation of the line.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092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838" y="668215"/>
            <a:ext cx="33842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Cross-validation: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641838" y="1327639"/>
            <a:ext cx="10576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Book Antiqua" panose="02040602050305030304" pitchFamily="18" charset="0"/>
              </a:rPr>
              <a:t>Cross validation is used to </a:t>
            </a: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reduce the overfitting of the model &amp; to find the best values of parameters</a:t>
            </a:r>
            <a:r>
              <a:rPr lang="en-IN" dirty="0">
                <a:latin typeface="Book Antiqua" panose="02040602050305030304" pitchFamily="18" charset="0"/>
              </a:rPr>
              <a:t>.</a:t>
            </a:r>
            <a:endParaRPr lang="en-GB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41840" y="1677102"/>
            <a:ext cx="582915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How it works?</a:t>
            </a:r>
          </a:p>
          <a:p>
            <a:pPr algn="just"/>
            <a:r>
              <a:rPr lang="en-GB" dirty="0">
                <a:latin typeface="Book Antiqua" panose="02040602050305030304" pitchFamily="18" charset="0"/>
              </a:rPr>
              <a:t>It </a:t>
            </a:r>
            <a:r>
              <a:rPr lang="en-GB" dirty="0">
                <a:solidFill>
                  <a:srgbClr val="FF0000"/>
                </a:solidFill>
                <a:latin typeface="Book Antiqua" panose="02040602050305030304" pitchFamily="18" charset="0"/>
              </a:rPr>
              <a:t>works on the training data only</a:t>
            </a:r>
            <a:r>
              <a:rPr lang="en-GB" dirty="0">
                <a:latin typeface="Book Antiqua" panose="02040602050305030304" pitchFamily="18" charset="0"/>
              </a:rPr>
              <a:t>. The training data is divided into the folds given by the user. </a:t>
            </a:r>
            <a:r>
              <a:rPr lang="en-GB" dirty="0">
                <a:solidFill>
                  <a:srgbClr val="0070C0"/>
                </a:solidFill>
                <a:latin typeface="Book Antiqua" panose="02040602050305030304" pitchFamily="18" charset="0"/>
              </a:rPr>
              <a:t>The number of folds to be divided completely is choice of the user. </a:t>
            </a:r>
            <a:r>
              <a:rPr lang="en-GB" dirty="0">
                <a:latin typeface="Book Antiqua" panose="02040602050305030304" pitchFamily="18" charset="0"/>
              </a:rPr>
              <a:t>For an instance if the number of folds is 5,the training data will be divided into 5 folds.1/5 of the training  data  will be used for test and remaining 4/5 of the training data will be used for the training purpose. </a:t>
            </a:r>
            <a:r>
              <a:rPr lang="en-GB" dirty="0">
                <a:solidFill>
                  <a:srgbClr val="7030A0"/>
                </a:solidFill>
                <a:latin typeface="Book Antiqua" panose="02040602050305030304" pitchFamily="18" charset="0"/>
              </a:rPr>
              <a:t>For each iteration, the test fold is getting changed sequentially. hence, all the folds are getting both trained and tested.</a:t>
            </a:r>
            <a:r>
              <a:rPr lang="en-GB" dirty="0">
                <a:latin typeface="Book Antiqua" panose="02040602050305030304" pitchFamily="18" charset="0"/>
              </a:rPr>
              <a:t> hence the overfitting of the model is getting reduced and can find the best values of the parameters which can be applied in the final evaluation of actual test data.</a:t>
            </a:r>
            <a:endParaRPr lang="en-IN" dirty="0">
              <a:latin typeface="Book Antiqua" panose="02040602050305030304" pitchFamily="18" charset="0"/>
            </a:endParaRPr>
          </a:p>
          <a:p>
            <a:pPr algn="just"/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989" y="1825536"/>
            <a:ext cx="5029286" cy="404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880</TotalTime>
  <Words>1055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 Antiqua</vt:lpstr>
      <vt:lpstr>Garamond</vt:lpstr>
      <vt:lpstr>Impact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: Industrial copper Modelling</dc:title>
  <dc:creator>ASUS</dc:creator>
  <cp:lastModifiedBy>ASUS</cp:lastModifiedBy>
  <cp:revision>40</cp:revision>
  <dcterms:created xsi:type="dcterms:W3CDTF">2024-12-14T14:36:04Z</dcterms:created>
  <dcterms:modified xsi:type="dcterms:W3CDTF">2024-12-20T07:01:47Z</dcterms:modified>
</cp:coreProperties>
</file>